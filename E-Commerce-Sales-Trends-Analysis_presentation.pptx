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Lora"/>
      <p:regular r:id="rId201314"/>
    </p:embeddedFont>
    <p:embeddedFont>
      <p:font typeface="Lora Bold"/>
      <p:regular r:id="rId201315"/>
    </p:embeddedFont>
    <p:embeddedFont>
      <p:font typeface="Source Sans 3"/>
      <p:regular r:id="rId201316"/>
    </p:embeddedFont>
    <p:embeddedFont>
      <p:font typeface="Source Sans 3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89986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E-Commerce Sales Trends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3004245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Using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Microsoft Excel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34,500 orders · Sep 2023 – Sep 2025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2438"/>
            <a:ext cx="353742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at a Glance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390576"/>
            <a:ext cx="5151165" cy="2918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8890" y="1123652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98890" y="1430685"/>
            <a:ext cx="2626296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Transform raw sales data into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actionable business insights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998890" y="1952104"/>
            <a:ext cx="2626296" cy="793700"/>
          </a:xfrm>
          <a:prstGeom prst="roundRect">
            <a:avLst>
              <a:gd name="adj" fmla="val 2474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44071" y="2097286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34,500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44071" y="2404318"/>
            <a:ext cx="2335932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Orders analyzed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98890" y="2860328"/>
            <a:ext cx="2626296" cy="793700"/>
          </a:xfrm>
          <a:prstGeom prst="roundRect">
            <a:avLst>
              <a:gd name="adj" fmla="val 2474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44071" y="3005510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17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44071" y="3312542"/>
            <a:ext cx="2335932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columns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98890" y="3768551"/>
            <a:ext cx="2626296" cy="793700"/>
          </a:xfrm>
          <a:prstGeom prst="roundRect">
            <a:avLst>
              <a:gd name="adj" fmla="val 2474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44071" y="3913733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24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44071" y="4220766"/>
            <a:ext cx="2335932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Months covered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73249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Cleaning &amp; KPIs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612478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significant data quality issues found.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2094905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₹58.65L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930622" y="277557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84860" y="2094905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34.5K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3691905" y="277557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46143" y="2094905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₹170</a:t>
            </a:r>
            <a:endParaRPr lang="en-US" sz="3850" dirty="0"/>
          </a:p>
        </p:txBody>
      </p:sp>
      <p:sp>
        <p:nvSpPr>
          <p:cNvPr id="9" name="Text 7"/>
          <p:cNvSpPr/>
          <p:nvPr/>
        </p:nvSpPr>
        <p:spPr>
          <a:xfrm>
            <a:off x="6453188" y="277557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 Order Value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904181" y="3369543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28%</a:t>
            </a:r>
            <a:endParaRPr lang="en-US" sz="3850" dirty="0"/>
          </a:p>
        </p:txBody>
      </p:sp>
      <p:sp>
        <p:nvSpPr>
          <p:cNvPr id="11" name="Text 9"/>
          <p:cNvSpPr/>
          <p:nvPr/>
        </p:nvSpPr>
        <p:spPr>
          <a:xfrm>
            <a:off x="2311226" y="405020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 Profit Margin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5464" y="3369543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5.52%</a:t>
            </a:r>
            <a:endParaRPr lang="en-US" sz="3850" dirty="0"/>
          </a:p>
        </p:txBody>
      </p:sp>
      <p:sp>
        <p:nvSpPr>
          <p:cNvPr id="13" name="Text 11"/>
          <p:cNvSpPr/>
          <p:nvPr/>
        </p:nvSpPr>
        <p:spPr>
          <a:xfrm>
            <a:off x="5072509" y="405020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Return Rate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5318373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Product Category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230698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Electronics Dominates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Electronics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₹33.19 lakh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56.59%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total sales, making it the most critical revenue driver.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759226" y="2510433"/>
            <a:ext cx="3865959" cy="822722"/>
          </a:xfrm>
          <a:prstGeom prst="roundRect">
            <a:avLst>
              <a:gd name="adj" fmla="val 2728"/>
            </a:avLst>
          </a:prstGeom>
          <a:solidFill>
            <a:srgbClr val="49042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798" y="2728392"/>
            <a:ext cx="187003" cy="149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5373" y="2682404"/>
            <a:ext cx="323024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Fashion recorded the highest number of returns — a quality improvement opportunity.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6701061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Monthly Revenue &amp; Regional Performance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3577" y="1117253"/>
            <a:ext cx="223450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Monthly Revenue Trend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454869"/>
            <a:ext cx="3883075" cy="27949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2111" y="1117253"/>
            <a:ext cx="20522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Region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111" y="1454869"/>
            <a:ext cx="3883075" cy="27949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77" y="4526235"/>
            <a:ext cx="8554045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South region</a:t>
            </a:r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leads at 22.13% of total sales. Revenue remained stable across the period, fluctuating between ~₹15L–₹25L monthly.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95151"/>
            <a:ext cx="792338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Payment Methods &amp; Customer Demographics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09092"/>
            <a:ext cx="283316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Payment Method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97310"/>
            <a:ext cx="3865959" cy="2782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9226" y="1309092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Insights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759226" y="1697310"/>
            <a:ext cx="1858194" cy="1147465"/>
          </a:xfrm>
          <a:prstGeom prst="roundRect">
            <a:avLst>
              <a:gd name="adj" fmla="val 1956"/>
            </a:avLst>
          </a:prstGeom>
          <a:solidFill>
            <a:srgbClr val="444752"/>
          </a:solidFill>
          <a:ln/>
        </p:spPr>
      </p:sp>
      <p:sp>
        <p:nvSpPr>
          <p:cNvPr id="7" name="Text 4"/>
          <p:cNvSpPr/>
          <p:nvPr/>
        </p:nvSpPr>
        <p:spPr>
          <a:xfrm>
            <a:off x="4908798" y="1846883"/>
            <a:ext cx="15590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Payment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08798" y="2216423"/>
            <a:ext cx="155904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Credit Card — highest revenue &amp; order volume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66992" y="1697310"/>
            <a:ext cx="1858194" cy="1147465"/>
          </a:xfrm>
          <a:prstGeom prst="roundRect">
            <a:avLst>
              <a:gd name="adj" fmla="val 1956"/>
            </a:avLst>
          </a:prstGeom>
          <a:solidFill>
            <a:srgbClr val="444752"/>
          </a:solidFill>
          <a:ln/>
        </p:spPr>
      </p:sp>
      <p:sp>
        <p:nvSpPr>
          <p:cNvPr id="10" name="Text 7"/>
          <p:cNvSpPr/>
          <p:nvPr/>
        </p:nvSpPr>
        <p:spPr>
          <a:xfrm>
            <a:off x="6916564" y="1846883"/>
            <a:ext cx="15590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Prime Age Group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16564" y="2216423"/>
            <a:ext cx="155904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28–37 contributed the highest revenue share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9226" y="2994347"/>
            <a:ext cx="3865959" cy="908075"/>
          </a:xfrm>
          <a:prstGeom prst="roundRect">
            <a:avLst>
              <a:gd name="adj" fmla="val 2471"/>
            </a:avLst>
          </a:prstGeom>
          <a:solidFill>
            <a:srgbClr val="444752"/>
          </a:solidFill>
          <a:ln/>
        </p:spPr>
      </p:sp>
      <p:sp>
        <p:nvSpPr>
          <p:cNvPr id="13" name="Text 10"/>
          <p:cNvSpPr/>
          <p:nvPr/>
        </p:nvSpPr>
        <p:spPr>
          <a:xfrm>
            <a:off x="4908798" y="314392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Gender Balance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908798" y="3513460"/>
            <a:ext cx="356681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&amp; female revenue contribution nearly equal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1275"/>
            <a:ext cx="3702472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Insights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27" y="1101179"/>
            <a:ext cx="4003923" cy="8049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7667" y="1258119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Electronics = 56.59%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37667" y="1537246"/>
            <a:ext cx="361384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revenue category at ₹33.19L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6500" y="1101179"/>
            <a:ext cx="4003923" cy="8049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49639" y="1258119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South Region Leads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849639" y="1537246"/>
            <a:ext cx="361384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22.13% of total sales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527" y="2033215"/>
            <a:ext cx="4003923" cy="8049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7667" y="2190155"/>
            <a:ext cx="1646932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Credit Card Preferred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737667" y="2469282"/>
            <a:ext cx="361384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revenue &amp; order volume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6500" y="2033215"/>
            <a:ext cx="4003923" cy="80493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49639" y="2190155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Low Return Rate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849639" y="2469282"/>
            <a:ext cx="361384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5.52% — strong satisfaction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527" y="2965252"/>
            <a:ext cx="4003923" cy="80493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7667" y="3122191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Fashion Returns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737667" y="3401318"/>
            <a:ext cx="361384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returns — quality opportunity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16500" y="2965252"/>
            <a:ext cx="4003923" cy="80493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49639" y="3122191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 28–37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849639" y="3401318"/>
            <a:ext cx="361384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revenue share</a:t>
            </a:r>
            <a:endParaRPr lang="en-US" sz="10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4527" y="3897288"/>
            <a:ext cx="4003923" cy="80493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37667" y="4054227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Gender Balance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737667" y="4333354"/>
            <a:ext cx="361384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Near-equal male &amp; female revenue</a:t>
            </a:r>
            <a:endParaRPr lang="en-US" sz="10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16500" y="3897288"/>
            <a:ext cx="4003923" cy="804937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849639" y="4054227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Stable Sales</a:t>
            </a:r>
            <a:endParaRPr lang="en-US" sz="1250" dirty="0"/>
          </a:p>
        </p:txBody>
      </p:sp>
      <p:sp>
        <p:nvSpPr>
          <p:cNvPr id="26" name="Text 16"/>
          <p:cNvSpPr/>
          <p:nvPr/>
        </p:nvSpPr>
        <p:spPr>
          <a:xfrm>
            <a:off x="4849639" y="4333354"/>
            <a:ext cx="361384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Consistent monthly revenue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0269" y="475729"/>
            <a:ext cx="4273004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Recommendations &amp; Conclusion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0601" y="998079"/>
            <a:ext cx="161255" cy="16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9717" y="994767"/>
            <a:ext cx="126503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Invest in Electronics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429717" y="1230139"/>
            <a:ext cx="1924273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Primary revenue driver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601" y="1535795"/>
            <a:ext cx="161255" cy="1612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9717" y="1532483"/>
            <a:ext cx="126503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Fix Fashion Returns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429717" y="1767855"/>
            <a:ext cx="1924273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Quality &amp; expectation management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0601" y="2073511"/>
            <a:ext cx="161255" cy="1612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9717" y="2070199"/>
            <a:ext cx="126503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Expand South Region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1429717" y="2305571"/>
            <a:ext cx="1924273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Strongest market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0601" y="2611227"/>
            <a:ext cx="161255" cy="1612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29717" y="2607915"/>
            <a:ext cx="1535311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Promote Digital Payments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1429717" y="2843287"/>
            <a:ext cx="1924273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Targeted incentives</a:t>
            </a:r>
            <a:endParaRPr lang="en-US" sz="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0601" y="3148943"/>
            <a:ext cx="161255" cy="16125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29717" y="3145631"/>
            <a:ext cx="126503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Age 28–37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1429717" y="3381003"/>
            <a:ext cx="1924273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revenue segment</a:t>
            </a:r>
            <a:endParaRPr lang="en-US" sz="8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0601" y="3686659"/>
            <a:ext cx="161255" cy="16125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29717" y="3683347"/>
            <a:ext cx="1392436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Grow Underperformers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1429717" y="3918719"/>
            <a:ext cx="1924273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Boost lower categories</a:t>
            </a:r>
            <a:endParaRPr lang="en-US" sz="8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20988" y="1270546"/>
            <a:ext cx="4447356" cy="2520107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1080269" y="4240337"/>
            <a:ext cx="6983388" cy="340519"/>
          </a:xfrm>
          <a:prstGeom prst="roundRect">
            <a:avLst>
              <a:gd name="adj" fmla="val 4737"/>
            </a:avLst>
          </a:prstGeom>
          <a:solidFill>
            <a:srgbClr val="183A13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7797" y="4380607"/>
            <a:ext cx="134392" cy="10752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429717" y="4336703"/>
            <a:ext cx="6983611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 &amp; findings support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strategic, data-driven decisions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operational growth.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2026-06-15T09:43:19Z</dcterms:created>
  <dcterms:modified xsi:type="dcterms:W3CDTF">2026-06-15T09:43:19Z</dcterms:modified>
</cp:coreProperties>
</file>